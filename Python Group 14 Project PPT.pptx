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ormorant Garamond Bold Italics" charset="1" panose="00000800000000000000"/>
      <p:regular r:id="rId20"/>
    </p:embeddedFont>
    <p:embeddedFont>
      <p:font typeface="Quicksand" charset="1" panose="00000000000000000000"/>
      <p:regular r:id="rId21"/>
    </p:embeddedFont>
    <p:embeddedFont>
      <p:font typeface="Quicksand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764" y="2535492"/>
            <a:ext cx="16229942" cy="272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29"/>
              </a:lnSpc>
              <a:spcBef>
                <a:spcPct val="0"/>
              </a:spcBef>
            </a:pPr>
            <a:r>
              <a:rPr lang="en-US" b="true" sz="15878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Smart Voice Assistant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37539" y="5908475"/>
            <a:ext cx="12812922" cy="8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Python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22179" y="1958056"/>
            <a:ext cx="11643643" cy="62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37"/>
              </a:lnSpc>
              <a:spcBef>
                <a:spcPct val="0"/>
              </a:spcBef>
            </a:pPr>
            <a:r>
              <a:rPr lang="en-US" b="true" sz="374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Prepared by group 14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56641"/>
            <a:chOff x="0" y="0"/>
            <a:chExt cx="4816593" cy="568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68004"/>
            </a:xfrm>
            <a:custGeom>
              <a:avLst/>
              <a:gdLst/>
              <a:ahLst/>
              <a:cxnLst/>
              <a:rect r="r" b="b" t="t" l="l"/>
              <a:pathLst>
                <a:path h="56800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8004"/>
                  </a:lnTo>
                  <a:lnTo>
                    <a:pt x="0" y="568004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615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99709"/>
            <a:ext cx="99149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Team Members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97880" y="2314945"/>
            <a:ext cx="501732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AP23110011569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0560" y="2318566"/>
            <a:ext cx="5017320" cy="76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Pachigulla Joshika</a:t>
            </a:r>
          </a:p>
        </p:txBody>
      </p:sp>
      <p:sp>
        <p:nvSpPr>
          <p:cNvPr name="AutoShape 8" id="8"/>
          <p:cNvSpPr/>
          <p:nvPr/>
        </p:nvSpPr>
        <p:spPr>
          <a:xfrm>
            <a:off x="5897880" y="8681205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0560" y="3245856"/>
            <a:ext cx="5105622" cy="76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Kunam Day Harika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97880" y="3238871"/>
            <a:ext cx="501732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AP23110011607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0560" y="4173146"/>
            <a:ext cx="5251884" cy="76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Aasritha Daisy Lam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59780" y="4162797"/>
            <a:ext cx="501732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AP23110011610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0560" y="5099612"/>
            <a:ext cx="5017320" cy="76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Sakala Bhagya Sri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26344" y="5086724"/>
            <a:ext cx="5017320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AP23110011618</a:t>
            </a:r>
          </a:p>
        </p:txBody>
      </p:sp>
    </p:spTree>
  </p:cSld>
  <p:clrMapOvr>
    <a:masterClrMapping/>
  </p:clrMapOvr>
  <p:transition spd="slow">
    <p:cover dir="r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8400" y="2021776"/>
            <a:ext cx="17723522" cy="679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0"/>
              </a:lnSpc>
            </a:pPr>
            <a:r>
              <a:rPr lang="en-US" sz="455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Our project is a python-based </a:t>
            </a:r>
            <a:r>
              <a:rPr lang="en-US" sz="4558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voice assistant</a:t>
            </a:r>
            <a:r>
              <a:rPr lang="en-US" sz="455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designed to perform tasks using voice commands.</a:t>
            </a:r>
          </a:p>
          <a:p>
            <a:pPr algn="l">
              <a:lnSpc>
                <a:spcPts val="7750"/>
              </a:lnSpc>
            </a:pPr>
            <a:r>
              <a:rPr lang="en-US" sz="455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Named </a:t>
            </a:r>
            <a:r>
              <a:rPr lang="en-US" sz="4558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'Sophia'</a:t>
            </a:r>
            <a:r>
              <a:rPr lang="en-US" sz="455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the assistant integrates voice recognition, text-to-speech, and automation features.</a:t>
            </a:r>
          </a:p>
          <a:p>
            <a:pPr algn="l" marL="0" indent="0" lvl="0">
              <a:lnSpc>
                <a:spcPts val="7750"/>
              </a:lnSpc>
            </a:pPr>
            <a:r>
              <a:rPr lang="en-US" sz="455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It is useful for daily productivity and hands-free operation of basic tasks.</a:t>
            </a:r>
          </a:p>
          <a:p>
            <a:pPr algn="l" marL="0" indent="0" lvl="0">
              <a:lnSpc>
                <a:spcPts val="7750"/>
              </a:lnSpc>
            </a:pPr>
          </a:p>
        </p:txBody>
      </p:sp>
      <p:sp>
        <p:nvSpPr>
          <p:cNvPr name="AutoShape 3" id="3"/>
          <p:cNvSpPr/>
          <p:nvPr/>
        </p:nvSpPr>
        <p:spPr>
          <a:xfrm flipV="true">
            <a:off x="0" y="1964626"/>
            <a:ext cx="1828800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0" y="8779942"/>
            <a:ext cx="1828800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304001" y="1199467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80481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304001" y="913335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r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93893" y="15849"/>
            <a:ext cx="4194107" cy="10271151"/>
            <a:chOff x="0" y="0"/>
            <a:chExt cx="1104621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621" cy="2705159"/>
            </a:xfrm>
            <a:custGeom>
              <a:avLst/>
              <a:gdLst/>
              <a:ahLst/>
              <a:cxnLst/>
              <a:rect r="r" b="b" t="t" l="l"/>
              <a:pathLst>
                <a:path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974931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93902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Technologies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73939"/>
            <a:ext cx="11105285" cy="552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4"/>
              </a:lnSpc>
              <a:spcBef>
                <a:spcPct val="0"/>
              </a:spcBef>
            </a:pPr>
            <a:r>
              <a:rPr lang="en-US" b="true" sz="448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•Python</a:t>
            </a:r>
          </a:p>
          <a:p>
            <a:pPr algn="l">
              <a:lnSpc>
                <a:spcPts val="6274"/>
              </a:lnSpc>
              <a:spcBef>
                <a:spcPct val="0"/>
              </a:spcBef>
            </a:pPr>
            <a:r>
              <a:rPr lang="en-US" b="true" sz="448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•Eel (for connecting Python with frontend)</a:t>
            </a:r>
          </a:p>
          <a:p>
            <a:pPr algn="l">
              <a:lnSpc>
                <a:spcPts val="6274"/>
              </a:lnSpc>
              <a:spcBef>
                <a:spcPct val="0"/>
              </a:spcBef>
            </a:pPr>
            <a:r>
              <a:rPr lang="en-US" b="true" sz="448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•pyttsx3 (Text-to-Speech)</a:t>
            </a:r>
          </a:p>
          <a:p>
            <a:pPr algn="l">
              <a:lnSpc>
                <a:spcPts val="6274"/>
              </a:lnSpc>
              <a:spcBef>
                <a:spcPct val="0"/>
              </a:spcBef>
            </a:pPr>
            <a:r>
              <a:rPr lang="en-US" b="true" sz="448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•SpeechRecognition (Speech-to-Text)</a:t>
            </a:r>
          </a:p>
          <a:p>
            <a:pPr algn="l">
              <a:lnSpc>
                <a:spcPts val="6274"/>
              </a:lnSpc>
              <a:spcBef>
                <a:spcPct val="0"/>
              </a:spcBef>
            </a:pPr>
            <a:r>
              <a:rPr lang="en-US" b="true" sz="448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•PyAutoGUI, Requests, Wikipedia, pywhatkit, etc.</a:t>
            </a:r>
          </a:p>
        </p:txBody>
      </p:sp>
    </p:spTree>
  </p:cSld>
  <p:clrMapOvr>
    <a:masterClrMapping/>
  </p:clrMapOvr>
  <p:transition spd="slow">
    <p:cover dir="r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Front End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98342" y="1684924"/>
            <a:ext cx="9491317" cy="7225265"/>
          </a:xfrm>
          <a:custGeom>
            <a:avLst/>
            <a:gdLst/>
            <a:ahLst/>
            <a:cxnLst/>
            <a:rect r="r" b="b" t="t" l="l"/>
            <a:pathLst>
              <a:path h="7225265" w="9491317">
                <a:moveTo>
                  <a:pt x="0" y="0"/>
                </a:moveTo>
                <a:lnTo>
                  <a:pt x="9491316" y="0"/>
                </a:lnTo>
                <a:lnTo>
                  <a:pt x="9491316" y="7225265"/>
                </a:lnTo>
                <a:lnTo>
                  <a:pt x="0" y="72252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r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826" y="2433837"/>
            <a:ext cx="4481288" cy="6426664"/>
            <a:chOff x="0" y="0"/>
            <a:chExt cx="1180257" cy="16926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0257" cy="1692619"/>
            </a:xfrm>
            <a:custGeom>
              <a:avLst/>
              <a:gdLst/>
              <a:ahLst/>
              <a:cxnLst/>
              <a:rect r="r" b="b" t="t" l="l"/>
              <a:pathLst>
                <a:path h="1692619" w="1180257">
                  <a:moveTo>
                    <a:pt x="88108" y="0"/>
                  </a:moveTo>
                  <a:lnTo>
                    <a:pt x="1092149" y="0"/>
                  </a:lnTo>
                  <a:cubicBezTo>
                    <a:pt x="1115517" y="0"/>
                    <a:pt x="1137927" y="9283"/>
                    <a:pt x="1154451" y="25806"/>
                  </a:cubicBezTo>
                  <a:cubicBezTo>
                    <a:pt x="1170974" y="42330"/>
                    <a:pt x="1180257" y="64740"/>
                    <a:pt x="1180257" y="88108"/>
                  </a:cubicBezTo>
                  <a:lnTo>
                    <a:pt x="1180257" y="1604511"/>
                  </a:lnTo>
                  <a:cubicBezTo>
                    <a:pt x="1180257" y="1627879"/>
                    <a:pt x="1170974" y="1650290"/>
                    <a:pt x="1154451" y="1666813"/>
                  </a:cubicBezTo>
                  <a:cubicBezTo>
                    <a:pt x="1137927" y="1683337"/>
                    <a:pt x="1115517" y="1692619"/>
                    <a:pt x="1092149" y="1692619"/>
                  </a:cubicBezTo>
                  <a:lnTo>
                    <a:pt x="88108" y="1692619"/>
                  </a:lnTo>
                  <a:cubicBezTo>
                    <a:pt x="64740" y="1692619"/>
                    <a:pt x="42330" y="1683337"/>
                    <a:pt x="25806" y="1666813"/>
                  </a:cubicBezTo>
                  <a:cubicBezTo>
                    <a:pt x="9283" y="1650290"/>
                    <a:pt x="0" y="1627879"/>
                    <a:pt x="0" y="1604511"/>
                  </a:cubicBezTo>
                  <a:lnTo>
                    <a:pt x="0" y="88108"/>
                  </a:lnTo>
                  <a:cubicBezTo>
                    <a:pt x="0" y="64740"/>
                    <a:pt x="9283" y="42330"/>
                    <a:pt x="25806" y="25806"/>
                  </a:cubicBezTo>
                  <a:cubicBezTo>
                    <a:pt x="42330" y="9283"/>
                    <a:pt x="64740" y="0"/>
                    <a:pt x="88108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180257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46025" y="2794611"/>
            <a:ext cx="2348889" cy="2348889"/>
          </a:xfrm>
          <a:custGeom>
            <a:avLst/>
            <a:gdLst/>
            <a:ahLst/>
            <a:cxnLst/>
            <a:rect r="r" b="b" t="t" l="l"/>
            <a:pathLst>
              <a:path h="2348889" w="2348889">
                <a:moveTo>
                  <a:pt x="0" y="0"/>
                </a:moveTo>
                <a:lnTo>
                  <a:pt x="2348889" y="0"/>
                </a:lnTo>
                <a:lnTo>
                  <a:pt x="2348889" y="2348889"/>
                </a:lnTo>
                <a:lnTo>
                  <a:pt x="0" y="2348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81153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797" y="6094916"/>
            <a:ext cx="4481288" cy="145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9"/>
              </a:lnSpc>
            </a:pPr>
            <a:r>
              <a:rPr lang="en-US" sz="34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SpeechRecognition captures user input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580494"/>
            <a:ext cx="327315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Voice Input</a:t>
            </a:r>
          </a:p>
        </p:txBody>
      </p:sp>
      <p:sp>
        <p:nvSpPr>
          <p:cNvPr name="AutoShape 9" id="9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4709085" y="2456695"/>
            <a:ext cx="4481288" cy="6426664"/>
            <a:chOff x="0" y="0"/>
            <a:chExt cx="1180257" cy="16926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0257" cy="1692619"/>
            </a:xfrm>
            <a:custGeom>
              <a:avLst/>
              <a:gdLst/>
              <a:ahLst/>
              <a:cxnLst/>
              <a:rect r="r" b="b" t="t" l="l"/>
              <a:pathLst>
                <a:path h="1692619" w="1180257">
                  <a:moveTo>
                    <a:pt x="88108" y="0"/>
                  </a:moveTo>
                  <a:lnTo>
                    <a:pt x="1092149" y="0"/>
                  </a:lnTo>
                  <a:cubicBezTo>
                    <a:pt x="1115517" y="0"/>
                    <a:pt x="1137927" y="9283"/>
                    <a:pt x="1154451" y="25806"/>
                  </a:cubicBezTo>
                  <a:cubicBezTo>
                    <a:pt x="1170974" y="42330"/>
                    <a:pt x="1180257" y="64740"/>
                    <a:pt x="1180257" y="88108"/>
                  </a:cubicBezTo>
                  <a:lnTo>
                    <a:pt x="1180257" y="1604511"/>
                  </a:lnTo>
                  <a:cubicBezTo>
                    <a:pt x="1180257" y="1627879"/>
                    <a:pt x="1170974" y="1650290"/>
                    <a:pt x="1154451" y="1666813"/>
                  </a:cubicBezTo>
                  <a:cubicBezTo>
                    <a:pt x="1137927" y="1683337"/>
                    <a:pt x="1115517" y="1692619"/>
                    <a:pt x="1092149" y="1692619"/>
                  </a:cubicBezTo>
                  <a:lnTo>
                    <a:pt x="88108" y="1692619"/>
                  </a:lnTo>
                  <a:cubicBezTo>
                    <a:pt x="64740" y="1692619"/>
                    <a:pt x="42330" y="1683337"/>
                    <a:pt x="25806" y="1666813"/>
                  </a:cubicBezTo>
                  <a:cubicBezTo>
                    <a:pt x="9283" y="1650290"/>
                    <a:pt x="0" y="1627879"/>
                    <a:pt x="0" y="1604511"/>
                  </a:cubicBezTo>
                  <a:lnTo>
                    <a:pt x="0" y="88108"/>
                  </a:lnTo>
                  <a:cubicBezTo>
                    <a:pt x="0" y="64740"/>
                    <a:pt x="9283" y="42330"/>
                    <a:pt x="25806" y="25806"/>
                  </a:cubicBezTo>
                  <a:cubicBezTo>
                    <a:pt x="42330" y="9283"/>
                    <a:pt x="64740" y="0"/>
                    <a:pt x="88108" y="0"/>
                  </a:cubicBezTo>
                  <a:close/>
                </a:path>
              </a:pathLst>
            </a:custGeom>
            <a:solidFill>
              <a:srgbClr val="A9BEC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180257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790232" y="2794611"/>
            <a:ext cx="2318994" cy="2348889"/>
          </a:xfrm>
          <a:custGeom>
            <a:avLst/>
            <a:gdLst/>
            <a:ahLst/>
            <a:cxnLst/>
            <a:rect r="r" b="b" t="t" l="l"/>
            <a:pathLst>
              <a:path h="2348889" w="2318994">
                <a:moveTo>
                  <a:pt x="0" y="0"/>
                </a:moveTo>
                <a:lnTo>
                  <a:pt x="2318993" y="0"/>
                </a:lnTo>
                <a:lnTo>
                  <a:pt x="2318993" y="2348889"/>
                </a:lnTo>
                <a:lnTo>
                  <a:pt x="0" y="2348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144000" y="2456695"/>
            <a:ext cx="4481288" cy="6426664"/>
            <a:chOff x="0" y="0"/>
            <a:chExt cx="1180257" cy="16926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0257" cy="1692619"/>
            </a:xfrm>
            <a:custGeom>
              <a:avLst/>
              <a:gdLst/>
              <a:ahLst/>
              <a:cxnLst/>
              <a:rect r="r" b="b" t="t" l="l"/>
              <a:pathLst>
                <a:path h="1692619" w="1180257">
                  <a:moveTo>
                    <a:pt x="88108" y="0"/>
                  </a:moveTo>
                  <a:lnTo>
                    <a:pt x="1092149" y="0"/>
                  </a:lnTo>
                  <a:cubicBezTo>
                    <a:pt x="1115517" y="0"/>
                    <a:pt x="1137927" y="9283"/>
                    <a:pt x="1154451" y="25806"/>
                  </a:cubicBezTo>
                  <a:cubicBezTo>
                    <a:pt x="1170974" y="42330"/>
                    <a:pt x="1180257" y="64740"/>
                    <a:pt x="1180257" y="88108"/>
                  </a:cubicBezTo>
                  <a:lnTo>
                    <a:pt x="1180257" y="1604511"/>
                  </a:lnTo>
                  <a:cubicBezTo>
                    <a:pt x="1180257" y="1627879"/>
                    <a:pt x="1170974" y="1650290"/>
                    <a:pt x="1154451" y="1666813"/>
                  </a:cubicBezTo>
                  <a:cubicBezTo>
                    <a:pt x="1137927" y="1683337"/>
                    <a:pt x="1115517" y="1692619"/>
                    <a:pt x="1092149" y="1692619"/>
                  </a:cubicBezTo>
                  <a:lnTo>
                    <a:pt x="88108" y="1692619"/>
                  </a:lnTo>
                  <a:cubicBezTo>
                    <a:pt x="64740" y="1692619"/>
                    <a:pt x="42330" y="1683337"/>
                    <a:pt x="25806" y="1666813"/>
                  </a:cubicBezTo>
                  <a:cubicBezTo>
                    <a:pt x="9283" y="1650290"/>
                    <a:pt x="0" y="1627879"/>
                    <a:pt x="0" y="1604511"/>
                  </a:cubicBezTo>
                  <a:lnTo>
                    <a:pt x="0" y="88108"/>
                  </a:lnTo>
                  <a:cubicBezTo>
                    <a:pt x="0" y="64740"/>
                    <a:pt x="9283" y="42330"/>
                    <a:pt x="25806" y="25806"/>
                  </a:cubicBezTo>
                  <a:cubicBezTo>
                    <a:pt x="42330" y="9283"/>
                    <a:pt x="64740" y="0"/>
                    <a:pt x="88108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1180257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323848" y="2855728"/>
            <a:ext cx="2226655" cy="2226655"/>
          </a:xfrm>
          <a:custGeom>
            <a:avLst/>
            <a:gdLst/>
            <a:ahLst/>
            <a:cxnLst/>
            <a:rect r="r" b="b" t="t" l="l"/>
            <a:pathLst>
              <a:path h="2226655" w="2226655">
                <a:moveTo>
                  <a:pt x="0" y="0"/>
                </a:moveTo>
                <a:lnTo>
                  <a:pt x="2226655" y="0"/>
                </a:lnTo>
                <a:lnTo>
                  <a:pt x="2226655" y="2226655"/>
                </a:lnTo>
                <a:lnTo>
                  <a:pt x="0" y="22266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672913" y="2456695"/>
            <a:ext cx="4481288" cy="6426664"/>
            <a:chOff x="0" y="0"/>
            <a:chExt cx="1180257" cy="16926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0257" cy="1692619"/>
            </a:xfrm>
            <a:custGeom>
              <a:avLst/>
              <a:gdLst/>
              <a:ahLst/>
              <a:cxnLst/>
              <a:rect r="r" b="b" t="t" l="l"/>
              <a:pathLst>
                <a:path h="1692619" w="1180257">
                  <a:moveTo>
                    <a:pt x="88108" y="0"/>
                  </a:moveTo>
                  <a:lnTo>
                    <a:pt x="1092149" y="0"/>
                  </a:lnTo>
                  <a:cubicBezTo>
                    <a:pt x="1115517" y="0"/>
                    <a:pt x="1137927" y="9283"/>
                    <a:pt x="1154451" y="25806"/>
                  </a:cubicBezTo>
                  <a:cubicBezTo>
                    <a:pt x="1170974" y="42330"/>
                    <a:pt x="1180257" y="64740"/>
                    <a:pt x="1180257" y="88108"/>
                  </a:cubicBezTo>
                  <a:lnTo>
                    <a:pt x="1180257" y="1604511"/>
                  </a:lnTo>
                  <a:cubicBezTo>
                    <a:pt x="1180257" y="1627879"/>
                    <a:pt x="1170974" y="1650290"/>
                    <a:pt x="1154451" y="1666813"/>
                  </a:cubicBezTo>
                  <a:cubicBezTo>
                    <a:pt x="1137927" y="1683337"/>
                    <a:pt x="1115517" y="1692619"/>
                    <a:pt x="1092149" y="1692619"/>
                  </a:cubicBezTo>
                  <a:lnTo>
                    <a:pt x="88108" y="1692619"/>
                  </a:lnTo>
                  <a:cubicBezTo>
                    <a:pt x="64740" y="1692619"/>
                    <a:pt x="42330" y="1683337"/>
                    <a:pt x="25806" y="1666813"/>
                  </a:cubicBezTo>
                  <a:cubicBezTo>
                    <a:pt x="9283" y="1650290"/>
                    <a:pt x="0" y="1627879"/>
                    <a:pt x="0" y="1604511"/>
                  </a:cubicBezTo>
                  <a:lnTo>
                    <a:pt x="0" y="88108"/>
                  </a:lnTo>
                  <a:cubicBezTo>
                    <a:pt x="0" y="64740"/>
                    <a:pt x="9283" y="42330"/>
                    <a:pt x="25806" y="25806"/>
                  </a:cubicBezTo>
                  <a:cubicBezTo>
                    <a:pt x="42330" y="9283"/>
                    <a:pt x="64740" y="0"/>
                    <a:pt x="88108" y="0"/>
                  </a:cubicBezTo>
                  <a:close/>
                </a:path>
              </a:pathLst>
            </a:custGeom>
            <a:solidFill>
              <a:srgbClr val="A9BEC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1180257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851345" y="5590019"/>
            <a:ext cx="410402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Command Processing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95068" y="5603352"/>
            <a:ext cx="327315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Action Execution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76982" y="5580494"/>
            <a:ext cx="327315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Frontend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62712" y="6094916"/>
            <a:ext cx="4481288" cy="145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9"/>
              </a:lnSpc>
            </a:pPr>
            <a:r>
              <a:rPr lang="en-US" sz="34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Keywords parsed and directed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91625" y="6094916"/>
            <a:ext cx="4481288" cy="145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9"/>
              </a:lnSpc>
            </a:pPr>
            <a:r>
              <a:rPr lang="en-US" sz="34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Features executed via Python modules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72913" y="6094916"/>
            <a:ext cx="4481288" cy="2206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9"/>
              </a:lnSpc>
            </a:pPr>
            <a:r>
              <a:rPr lang="en-US" sz="34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Connected using Eel and displayed in browser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472336" y="2949241"/>
            <a:ext cx="2882442" cy="2194259"/>
          </a:xfrm>
          <a:custGeom>
            <a:avLst/>
            <a:gdLst/>
            <a:ahLst/>
            <a:cxnLst/>
            <a:rect r="r" b="b" t="t" l="l"/>
            <a:pathLst>
              <a:path h="2194259" w="2882442">
                <a:moveTo>
                  <a:pt x="0" y="0"/>
                </a:moveTo>
                <a:lnTo>
                  <a:pt x="2882442" y="0"/>
                </a:lnTo>
                <a:lnTo>
                  <a:pt x="2882442" y="2194259"/>
                </a:lnTo>
                <a:lnTo>
                  <a:pt x="0" y="2194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rd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49761" y="0"/>
            <a:ext cx="9838239" cy="10287000"/>
            <a:chOff x="0" y="0"/>
            <a:chExt cx="259114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1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91141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99709"/>
            <a:ext cx="94807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Key 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13181"/>
            <a:ext cx="16240866" cy="713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4"/>
              </a:lnSpc>
            </a:pPr>
            <a:r>
              <a:rPr lang="en-US" sz="4778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•Open applications and websites</a:t>
            </a:r>
          </a:p>
          <a:p>
            <a:pPr algn="l">
              <a:lnSpc>
                <a:spcPts val="8124"/>
              </a:lnSpc>
            </a:pPr>
            <a:r>
              <a:rPr lang="en-US" sz="4778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•Play YouTube videos</a:t>
            </a:r>
          </a:p>
          <a:p>
            <a:pPr algn="l">
              <a:lnSpc>
                <a:spcPts val="8124"/>
              </a:lnSpc>
            </a:pPr>
            <a:r>
              <a:rPr lang="en-US" sz="4778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•Fetch latest news and stock prices</a:t>
            </a:r>
          </a:p>
          <a:p>
            <a:pPr algn="l">
              <a:lnSpc>
                <a:spcPts val="8124"/>
              </a:lnSpc>
            </a:pPr>
            <a:r>
              <a:rPr lang="en-US" sz="4778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•Take notes and screenshots</a:t>
            </a:r>
          </a:p>
          <a:p>
            <a:pPr algn="l">
              <a:lnSpc>
                <a:spcPts val="8124"/>
              </a:lnSpc>
            </a:pPr>
            <a:r>
              <a:rPr lang="en-US" sz="4778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•Search Google/Wikipedia</a:t>
            </a:r>
          </a:p>
          <a:p>
            <a:pPr algn="l">
              <a:lnSpc>
                <a:spcPts val="8124"/>
              </a:lnSpc>
            </a:pPr>
            <a:r>
              <a:rPr lang="en-US" sz="4778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•Set alarms and timers</a:t>
            </a:r>
          </a:p>
          <a:p>
            <a:pPr algn="l" marL="0" indent="0" lvl="0">
              <a:lnSpc>
                <a:spcPts val="8124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1028700" y="974152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767060" y="10287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cover dir="rd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60651" y="0"/>
            <a:ext cx="4627349" cy="10287000"/>
            <a:chOff x="0" y="0"/>
            <a:chExt cx="121872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87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18726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99709"/>
            <a:ext cx="57028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0084" y="2525656"/>
            <a:ext cx="10886373" cy="725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0665" indent="-460333" lvl="1">
              <a:lnSpc>
                <a:spcPts val="7249"/>
              </a:lnSpc>
              <a:buFont typeface="Arial"/>
              <a:buChar char="•"/>
            </a:pPr>
            <a:r>
              <a:rPr lang="en-US" sz="426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User speaks a command (e.g., 'play music on YouTube')</a:t>
            </a:r>
          </a:p>
          <a:p>
            <a:pPr algn="l" marL="920665" indent="-460333" lvl="1">
              <a:lnSpc>
                <a:spcPts val="7249"/>
              </a:lnSpc>
              <a:buFont typeface="Arial"/>
              <a:buChar char="•"/>
            </a:pPr>
            <a:r>
              <a:rPr lang="en-US" sz="426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Speech is recognized and converted to text</a:t>
            </a:r>
          </a:p>
          <a:p>
            <a:pPr algn="l" marL="920665" indent="-460333" lvl="1">
              <a:lnSpc>
                <a:spcPts val="7249"/>
              </a:lnSpc>
              <a:buFont typeface="Arial"/>
              <a:buChar char="•"/>
            </a:pPr>
            <a:r>
              <a:rPr lang="en-US" sz="426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Tex</a:t>
            </a:r>
            <a:r>
              <a:rPr lang="en-US" sz="426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 is analyzed to identify the required action</a:t>
            </a:r>
          </a:p>
          <a:p>
            <a:pPr algn="l" marL="920665" indent="-460333" lvl="1">
              <a:lnSpc>
                <a:spcPts val="7249"/>
              </a:lnSpc>
              <a:buFont typeface="Arial"/>
              <a:buChar char="•"/>
            </a:pPr>
            <a:r>
              <a:rPr lang="en-US" sz="426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Corresponding function is called (e.g., PlayYoutube)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914818"/>
            <a:ext cx="10527757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How Commands Work</a:t>
            </a:r>
          </a:p>
        </p:txBody>
      </p:sp>
    </p:spTree>
  </p:cSld>
  <p:clrMapOvr>
    <a:masterClrMapping/>
  </p:clrMapOvr>
  <p:transition spd="slow">
    <p:cover dir="rd"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60651" y="0"/>
            <a:ext cx="4627349" cy="10287000"/>
            <a:chOff x="0" y="0"/>
            <a:chExt cx="121872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87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18726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0084" y="2525656"/>
            <a:ext cx="10886373" cy="725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0665" indent="-460333" lvl="1">
              <a:lnSpc>
                <a:spcPts val="7249"/>
              </a:lnSpc>
              <a:buFont typeface="Arial"/>
              <a:buChar char="•"/>
            </a:pPr>
            <a:r>
              <a:rPr lang="en-US" sz="426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Dynamic command routing in command.py</a:t>
            </a:r>
          </a:p>
          <a:p>
            <a:pPr algn="l" marL="920665" indent="-460333" lvl="1">
              <a:lnSpc>
                <a:spcPts val="7249"/>
              </a:lnSpc>
              <a:buFont typeface="Arial"/>
              <a:buChar char="•"/>
            </a:pPr>
            <a:r>
              <a:rPr lang="en-US" sz="426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Threading used for alarms withou</a:t>
            </a:r>
            <a:r>
              <a:rPr lang="en-US" sz="426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 blocking UI</a:t>
            </a:r>
          </a:p>
          <a:p>
            <a:pPr algn="l" marL="920665" indent="-460333" lvl="1">
              <a:lnSpc>
                <a:spcPts val="7249"/>
              </a:lnSpc>
              <a:buFont typeface="Arial"/>
              <a:buChar char="•"/>
            </a:pPr>
            <a:r>
              <a:rPr lang="en-US" sz="426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Fallback logic for app/URL handling in openCommand()</a:t>
            </a:r>
          </a:p>
          <a:p>
            <a:pPr algn="l" marL="920665" indent="-460333" lvl="1">
              <a:lnSpc>
                <a:spcPts val="7249"/>
              </a:lnSpc>
              <a:buFont typeface="Arial"/>
              <a:buChar char="•"/>
            </a:pPr>
            <a:r>
              <a:rPr lang="en-US" sz="426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Error handling in Wikipedia and News fetching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06176"/>
            <a:ext cx="10527757" cy="76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Interesting Code Logic</a:t>
            </a:r>
          </a:p>
        </p:txBody>
      </p:sp>
    </p:spTree>
  </p:cSld>
  <p:clrMapOvr>
    <a:masterClrMapping/>
  </p:clrMapOvr>
  <p:transition spd="slow">
    <p:cover dir="rd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B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1892" y="428942"/>
            <a:ext cx="1032659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Frontend Integration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396511"/>
            <a:ext cx="17259300" cy="525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75328" indent="-537664" lvl="1">
              <a:lnSpc>
                <a:spcPts val="8467"/>
              </a:lnSpc>
              <a:buFont typeface="Arial"/>
              <a:buChar char="•"/>
            </a:pPr>
            <a:r>
              <a:rPr lang="en-US" sz="498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Eel used to bind Python backend with a web frontend</a:t>
            </a:r>
          </a:p>
          <a:p>
            <a:pPr algn="just" marL="1075328" indent="-537664" lvl="1">
              <a:lnSpc>
                <a:spcPts val="8467"/>
              </a:lnSpc>
              <a:buFont typeface="Arial"/>
              <a:buChar char="•"/>
            </a:pPr>
            <a:r>
              <a:rPr lang="en-US" sz="498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Voice responses and messages displayed via HTML/JS</a:t>
            </a:r>
          </a:p>
          <a:p>
            <a:pPr algn="just" marL="1075328" indent="-537664" lvl="1">
              <a:lnSpc>
                <a:spcPts val="8467"/>
              </a:lnSpc>
              <a:buFont typeface="Arial"/>
              <a:buChar char="•"/>
            </a:pPr>
            <a:r>
              <a:rPr lang="en-US" sz="498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Browser launched as a desktop app using Chrome app mode</a:t>
            </a:r>
          </a:p>
          <a:p>
            <a:pPr algn="just" marL="0" indent="0" lvl="0">
              <a:lnSpc>
                <a:spcPts val="8467"/>
              </a:lnSpc>
            </a:pPr>
          </a:p>
        </p:txBody>
      </p:sp>
    </p:spTree>
  </p:cSld>
  <p:clrMapOvr>
    <a:masterClrMapping/>
  </p:clrMapOvr>
  <p:transition spd="slow">
    <p:cover dir="rd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99709"/>
            <a:ext cx="1153752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EXAMPLE USECASE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70350"/>
            <a:ext cx="16230600" cy="4464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0"/>
              </a:lnSpc>
            </a:pPr>
            <a:r>
              <a:rPr lang="en-US" sz="531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•User says: 'Set a timer for 2 minutes'</a:t>
            </a:r>
          </a:p>
          <a:p>
            <a:pPr algn="l">
              <a:lnSpc>
                <a:spcPts val="9030"/>
              </a:lnSpc>
            </a:pPr>
            <a:r>
              <a:rPr lang="en-US" sz="531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•Assistant processes and waits 2 minutes</a:t>
            </a:r>
          </a:p>
          <a:p>
            <a:pPr algn="l">
              <a:lnSpc>
                <a:spcPts val="9030"/>
              </a:lnSpc>
            </a:pPr>
            <a:r>
              <a:rPr lang="en-US" sz="531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•Then says: 'Time's up!' via speaker and browser UI</a:t>
            </a:r>
          </a:p>
          <a:p>
            <a:pPr algn="l" marL="0" indent="0" lvl="0">
              <a:lnSpc>
                <a:spcPts val="9030"/>
              </a:lnSpc>
            </a:pPr>
          </a:p>
        </p:txBody>
      </p:sp>
    </p:spTree>
  </p:cSld>
  <p:clrMapOvr>
    <a:masterClrMapping/>
  </p:clrMapOvr>
  <p:transition spd="slow">
    <p:cover dir="rd"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DB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1892" y="428942"/>
            <a:ext cx="1032659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607480" y="1785808"/>
            <a:ext cx="18644757" cy="876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77671" indent="-538835" lvl="1">
              <a:lnSpc>
                <a:spcPts val="8485"/>
              </a:lnSpc>
              <a:buFont typeface="Arial"/>
              <a:buChar char="•"/>
            </a:pPr>
            <a:r>
              <a:rPr lang="en-US" b="true" sz="499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Better understanding: </a:t>
            </a:r>
            <a:r>
              <a:rPr lang="en-US" sz="499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Improve how the assistant understands what we say by using smarter language tools.</a:t>
            </a:r>
          </a:p>
          <a:p>
            <a:pPr algn="just" marL="1077671" indent="-538835" lvl="1">
              <a:lnSpc>
                <a:spcPts val="8485"/>
              </a:lnSpc>
              <a:buFont typeface="Arial"/>
              <a:buChar char="•"/>
            </a:pPr>
            <a:r>
              <a:rPr lang="en-US" b="true" sz="499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Voice lock:</a:t>
            </a:r>
            <a:r>
              <a:rPr lang="en-US" sz="499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Add a feature to recognize the user’s voice for security.</a:t>
            </a:r>
          </a:p>
          <a:p>
            <a:pPr algn="just" marL="1077671" indent="-538835" lvl="1">
              <a:lnSpc>
                <a:spcPts val="8485"/>
              </a:lnSpc>
              <a:buFont typeface="Arial"/>
              <a:buChar char="•"/>
            </a:pPr>
            <a:r>
              <a:rPr lang="en-US" b="true" sz="499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Always listening mode:</a:t>
            </a:r>
            <a:r>
              <a:rPr lang="en-US" sz="499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Make it listen for a wake word like “Hey Assistant” without clicking a button.</a:t>
            </a:r>
          </a:p>
          <a:p>
            <a:pPr algn="just">
              <a:lnSpc>
                <a:spcPts val="10285"/>
              </a:lnSpc>
            </a:pPr>
          </a:p>
          <a:p>
            <a:pPr algn="just" marL="0" indent="0" lvl="0">
              <a:lnSpc>
                <a:spcPts val="8485"/>
              </a:lnSpc>
            </a:pPr>
          </a:p>
        </p:txBody>
      </p:sp>
    </p:spTree>
  </p:cSld>
  <p:clrMapOvr>
    <a:masterClrMapping/>
  </p:clrMapOvr>
  <p:transition spd="slow">
    <p:cover dir="rd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99709"/>
            <a:ext cx="1153482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94300" y="2741924"/>
            <a:ext cx="14899400" cy="5353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19"/>
              </a:lnSpc>
            </a:pPr>
            <a:r>
              <a:rPr lang="en-US" sz="35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 this project, we built a voice assistant that can understand our voice, perform different tasks like opening apps, searching online, reading news, setting alarms, and more. It talks back to us using text-to-speech and shows messages on a simple interface. The assistant works well, and the project shows how we can use Python to control a computer using voice commands.</a:t>
            </a:r>
          </a:p>
          <a:p>
            <a:pPr algn="just" marL="0" indent="0" lvl="0">
              <a:lnSpc>
                <a:spcPts val="611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5897880" y="2303774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5897880" y="7917135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1684924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04001" y="837871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rd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DAGkhauC1h8</dc:identifier>
  <dcterms:modified xsi:type="dcterms:W3CDTF">2011-08-01T06:04:30Z</dcterms:modified>
  <cp:revision>1</cp:revision>
  <dc:title>White Blue Simple Modern Enhancing Sales Strategy Presentation</dc:title>
</cp:coreProperties>
</file>